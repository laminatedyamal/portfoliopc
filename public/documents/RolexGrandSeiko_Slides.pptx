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21275-D912-4E84-B199-D722FC158F3E}" v="96" dt="2024-11-30T18:48:21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261" autoAdjust="0"/>
  </p:normalViewPr>
  <p:slideViewPr>
    <p:cSldViewPr snapToGrid="0">
      <p:cViewPr varScale="1">
        <p:scale>
          <a:sx n="109" d="100"/>
          <a:sy n="109" d="100"/>
        </p:scale>
        <p:origin x="65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5C6D5-952D-4A3E-9B8A-30AAA3BEC1BD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EA9E2-026A-4046-96D6-504DC79FA50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6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EA9E2-026A-4046-96D6-504DC79FA5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3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EF878-F5A0-4313-E462-62AB64C8B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93D850-57D7-9AF9-08B4-A709A1C5A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47FB700-92CC-E111-2952-A1A552F5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A1D52B5-C9B8-33F8-521A-D3373164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E03FAFE-347F-7319-BD87-9A67618B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2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B5F3C-D8CB-6CDE-40EF-39885C05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81F472-4AE6-E0DC-EC70-512F172E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ACAED9C-5CD6-8EEA-5D94-A9E99C41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C3D517F-1175-C23A-9BB9-6600F122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A4F0CAB-1489-0B4A-215B-563E277E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1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7A041-29CF-8112-9BAC-EB9A29D0E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0A73DFA-BA7C-9487-8061-EC81EC98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311B29C-D5FC-0D95-8859-B76D1D63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5C5FA21-4363-0E62-50DA-CCFC3CED2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4CE155D-FFF8-0EFE-21CB-820664FD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19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C65C2-6C8A-D27A-8C05-6D4909F4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928950-D443-5AA9-3840-2A22C2DC2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F1E914-DA87-BC8B-21D6-F79F7110E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8303481-6FDE-9825-69EF-5F91A342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DB58880-6C0F-5DB8-DE6C-7FE906D5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EDB3BF-A8A8-62F0-351A-277B3C39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0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FABD1-6D9A-32A7-9DC3-336031E5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2D5FEF0-8A21-B278-AFA8-B55B9F7F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031DDEB-C996-31FD-5165-294A4EA0F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27F79224-4C7D-D746-CBA2-402990F4E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A8554FE-006F-691A-7191-91398C07A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C931D07-923A-2B26-7340-3122BA0C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31BC217-311B-FF40-2648-CC623892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4FC6834-8A69-3F63-503C-F41CB49FA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37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66AB1-0B5D-06F7-A1AC-4576D9A1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10626FD-1653-3373-887C-70EA53140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BBA47B9-7C10-3A35-BE98-FBFA24C3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100C0BF-A2F4-A4E0-B447-790F3F30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3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EBD5F851-EF65-C2CE-EB03-22863B65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9EB5902-1014-FB51-D090-4C71955E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C98D55E-FB2C-E662-2315-4079B340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F7B14-4C82-6CB4-EECE-8A79A09DA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D3501C4-57DD-9096-096C-65C53A150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B9011A5-5ACD-4F81-9CF2-6FF43BAA6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A07AA9D-DD31-9AC0-CA68-C070E07F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85BB125-7974-57FD-EE69-45A0499B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1AEC49A-3D85-6318-9D68-1DF9EA3D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3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2FF9E-B304-F8C0-82DA-4D20AA41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02FCD4F5-CB11-2A2E-C457-F1B8049E0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9B013A2-1B00-FB47-1125-CAE75636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685481C-0826-CE9F-0EA6-E97A24BB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B03079C-1CCD-8DA5-2247-C6E11BCB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F6B3FE7-0791-A865-6668-36B3CB08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6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4735A-0427-703A-079A-3387BA73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13A261A-9C7D-1DF8-25E5-49339B44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71C6F9-F4F1-B626-7024-B9DF36EB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69DD431-2C4B-5789-742D-BE70644E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B8B1523-606C-FCEB-93B0-49654631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699C8-3AA4-E7E5-12B7-B38A5E2A1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3F4093F-8A62-2305-D8FB-71D9041DF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DBA454F-C2B8-44E9-153D-8B0A06D2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AA4E551-8DBC-D411-FC5A-FF6E8E96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C7FFFCE-952E-3048-950A-66C89E482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7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12167172-BEBD-4D93-D2A2-730576F6C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D521A0C-1A25-5263-2C1A-D71CE92C4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6DD4978-DCAE-E922-50B3-A822E4A2D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41EBD-FF4F-4FC6-AD8B-1B4851A8DD1F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EE3E20D-1B6B-A648-C754-869E1C878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9255F3A-89DB-3EFF-44C5-E4FAB48B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CA212-2446-4849-90BA-BBC78ED505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5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jpg"/><Relationship Id="rId7" Type="http://schemas.openxmlformats.org/officeDocument/2006/relationships/image" Target="../media/image2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m 7" descr="Uma imagem com texto, cartão de visita, Tipo de letra, logótipo&#10;&#10;Descrição gerada automaticamente">
            <a:extLst>
              <a:ext uri="{FF2B5EF4-FFF2-40B4-BE49-F238E27FC236}">
                <a16:creationId xmlns:a16="http://schemas.microsoft.com/office/drawing/2014/main" id="{EF599B95-FC4B-8A74-F844-7EF9227D9A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76" r="-1" b="11095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6" name="Imagem 5" descr="Uma imagem com captura de ecrã, arte, Saturação de cores, encarnado&#10;&#10;Descrição gerada automaticamente">
            <a:extLst>
              <a:ext uri="{FF2B5EF4-FFF2-40B4-BE49-F238E27FC236}">
                <a16:creationId xmlns:a16="http://schemas.microsoft.com/office/drawing/2014/main" id="{091A9A80-9FCE-064B-7F00-CBBA47E7D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2" r="-1" b="23067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DCD0C3-C061-0EEA-DAC2-CAEF6E726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pt-PT" sz="5000" b="1" dirty="0">
                <a:solidFill>
                  <a:schemeClr val="bg1"/>
                </a:solidFill>
              </a:rPr>
              <a:t>Análise Crítica </a:t>
            </a:r>
            <a:r>
              <a:rPr lang="pt-PT" sz="5000" dirty="0">
                <a:solidFill>
                  <a:schemeClr val="bg1"/>
                </a:solidFill>
              </a:rPr>
              <a:t>(AMD) 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849B61-1DEB-E4CF-87C2-C197ECC84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pt-PT" sz="2000" dirty="0">
                <a:solidFill>
                  <a:schemeClr val="bg1"/>
                </a:solidFill>
              </a:rPr>
              <a:t>Trabalho realizado por: Pedro </a:t>
            </a:r>
            <a:r>
              <a:rPr lang="pt-PT" sz="2000" dirty="0" err="1">
                <a:solidFill>
                  <a:schemeClr val="bg1"/>
                </a:solidFill>
              </a:rPr>
              <a:t>Cóias</a:t>
            </a:r>
            <a:endParaRPr lang="pt-PT" sz="2000" dirty="0">
              <a:solidFill>
                <a:schemeClr val="bg1"/>
              </a:solidFill>
            </a:endParaRPr>
          </a:p>
          <a:p>
            <a:pPr algn="l"/>
            <a:r>
              <a:rPr lang="pt-PT" sz="2000" dirty="0">
                <a:solidFill>
                  <a:schemeClr val="bg1"/>
                </a:solidFill>
              </a:rPr>
              <a:t>No âmbito da disciplina de E-mail Marketing.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5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m Saturação de cores, arte, Carmim, encarnado">
            <a:extLst>
              <a:ext uri="{FF2B5EF4-FFF2-40B4-BE49-F238E27FC236}">
                <a16:creationId xmlns:a16="http://schemas.microsoft.com/office/drawing/2014/main" id="{A1DEAD20-FAE6-7BC0-4A4C-F2FA9A6CF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09D19B1-D76D-AA0C-3F53-93F18931500E}"/>
              </a:ext>
            </a:extLst>
          </p:cNvPr>
          <p:cNvSpPr txBox="1"/>
          <p:nvPr/>
        </p:nvSpPr>
        <p:spPr>
          <a:xfrm>
            <a:off x="1" y="566482"/>
            <a:ext cx="1218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  <a:latin typeface="+mj-lt"/>
              </a:rPr>
              <a:t>Estrutura desta apresentação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4FE3204-F7CA-5EBF-F1EA-70225A9734BB}"/>
              </a:ext>
            </a:extLst>
          </p:cNvPr>
          <p:cNvSpPr txBox="1"/>
          <p:nvPr/>
        </p:nvSpPr>
        <p:spPr>
          <a:xfrm>
            <a:off x="0" y="1531791"/>
            <a:ext cx="12192000" cy="500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Introdução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sz="1600" dirty="0">
                <a:solidFill>
                  <a:schemeClr val="bg1"/>
                </a:solidFill>
              </a:rPr>
              <a:t>(Porquê esta marca, processo de subscrição)</a:t>
            </a:r>
            <a:endParaRPr lang="pt-PT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Frequência </a:t>
            </a:r>
            <a:r>
              <a:rPr lang="pt-PT" sz="1600" dirty="0">
                <a:solidFill>
                  <a:schemeClr val="bg1"/>
                </a:solidFill>
              </a:rPr>
              <a:t>(Dia da semana, parte do dia, hora)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Relevância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sz="1600" dirty="0">
                <a:solidFill>
                  <a:schemeClr val="bg1"/>
                </a:solidFill>
              </a:rPr>
              <a:t>(O quão apropriado é o conteúdo em relação ás minhas escolhas)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Fase da Jornada </a:t>
            </a:r>
            <a:r>
              <a:rPr lang="pt-PT" sz="1600" dirty="0">
                <a:solidFill>
                  <a:schemeClr val="bg1"/>
                </a:solidFill>
              </a:rPr>
              <a:t>(Como subscritor, em que parte do “funil” me encontro)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Anatomia do E-mail </a:t>
            </a:r>
            <a:r>
              <a:rPr lang="pt-PT" sz="1600" dirty="0">
                <a:solidFill>
                  <a:schemeClr val="bg1"/>
                </a:solidFill>
              </a:rPr>
              <a:t>(Como o “e-mail” é apresentado ao subscritor)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Remetente </a:t>
            </a:r>
            <a:r>
              <a:rPr lang="pt-PT" sz="1600" dirty="0">
                <a:solidFill>
                  <a:schemeClr val="bg1"/>
                </a:solidFill>
              </a:rPr>
              <a:t>(Nome do remetente e respetivo endereço de “e-mail”)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“</a:t>
            </a:r>
            <a:r>
              <a:rPr lang="pt-PT" b="1" dirty="0" err="1">
                <a:solidFill>
                  <a:schemeClr val="bg1"/>
                </a:solidFill>
              </a:rPr>
              <a:t>Subjects</a:t>
            </a:r>
            <a:r>
              <a:rPr lang="pt-PT" b="1" dirty="0">
                <a:solidFill>
                  <a:schemeClr val="bg1"/>
                </a:solidFill>
              </a:rPr>
              <a:t>” e “</a:t>
            </a:r>
            <a:r>
              <a:rPr lang="pt-PT" b="1" dirty="0" err="1">
                <a:solidFill>
                  <a:schemeClr val="bg1"/>
                </a:solidFill>
              </a:rPr>
              <a:t>Preview</a:t>
            </a:r>
            <a:r>
              <a:rPr lang="pt-PT" b="1" dirty="0">
                <a:solidFill>
                  <a:schemeClr val="bg1"/>
                </a:solidFill>
              </a:rPr>
              <a:t> </a:t>
            </a:r>
            <a:r>
              <a:rPr lang="pt-PT" b="1" dirty="0" err="1">
                <a:solidFill>
                  <a:schemeClr val="bg1"/>
                </a:solidFill>
              </a:rPr>
              <a:t>Texts</a:t>
            </a:r>
            <a:r>
              <a:rPr lang="pt-PT" b="1" dirty="0">
                <a:solidFill>
                  <a:schemeClr val="bg1"/>
                </a:solidFill>
              </a:rPr>
              <a:t>”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sz="1600" dirty="0">
                <a:solidFill>
                  <a:schemeClr val="bg1"/>
                </a:solidFill>
              </a:rPr>
              <a:t>(Campos de “</a:t>
            </a:r>
            <a:r>
              <a:rPr lang="pt-PT" sz="1600" dirty="0" err="1">
                <a:solidFill>
                  <a:schemeClr val="bg1"/>
                </a:solidFill>
              </a:rPr>
              <a:t>subject</a:t>
            </a:r>
            <a:r>
              <a:rPr lang="pt-PT" sz="1600" dirty="0">
                <a:solidFill>
                  <a:schemeClr val="bg1"/>
                </a:solidFill>
              </a:rPr>
              <a:t>” e “</a:t>
            </a:r>
            <a:r>
              <a:rPr lang="pt-PT" sz="1600" dirty="0" err="1">
                <a:solidFill>
                  <a:schemeClr val="bg1"/>
                </a:solidFill>
              </a:rPr>
              <a:t>preview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text</a:t>
            </a:r>
            <a:r>
              <a:rPr lang="pt-PT" sz="1600" dirty="0">
                <a:solidFill>
                  <a:schemeClr val="bg1"/>
                </a:solidFill>
              </a:rPr>
              <a:t>”)</a:t>
            </a:r>
            <a:endParaRPr lang="pt-PT" sz="1600" b="1" dirty="0">
              <a:solidFill>
                <a:schemeClr val="bg1"/>
              </a:solidFill>
            </a:endParaRP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pt-PT" b="1" dirty="0">
                <a:solidFill>
                  <a:schemeClr val="bg1"/>
                </a:solidFill>
              </a:rPr>
              <a:t>Conteúdo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sz="1600" dirty="0">
                <a:solidFill>
                  <a:schemeClr val="bg1"/>
                </a:solidFill>
              </a:rPr>
              <a:t>(O que contêm o “email” e como se apresenta)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 err="1">
                <a:solidFill>
                  <a:schemeClr val="bg1"/>
                </a:solidFill>
              </a:rPr>
              <a:t>Sugestões</a:t>
            </a:r>
            <a:r>
              <a:rPr lang="en-US" b="1" dirty="0">
                <a:solidFill>
                  <a:schemeClr val="bg1"/>
                </a:solidFill>
              </a:rPr>
              <a:t> de </a:t>
            </a:r>
            <a:r>
              <a:rPr lang="en-US" b="1" dirty="0" err="1">
                <a:solidFill>
                  <a:schemeClr val="bg1"/>
                </a:solidFill>
              </a:rPr>
              <a:t>melhoria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(Como, </a:t>
            </a:r>
            <a:r>
              <a:rPr lang="en-US" sz="1600" dirty="0" err="1">
                <a:solidFill>
                  <a:schemeClr val="bg1"/>
                </a:solidFill>
              </a:rPr>
              <a:t>na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minha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opinião</a:t>
            </a:r>
            <a:r>
              <a:rPr lang="en-US" sz="1600" dirty="0">
                <a:solidFill>
                  <a:schemeClr val="bg1"/>
                </a:solidFill>
              </a:rPr>
              <a:t>, a </a:t>
            </a:r>
            <a:r>
              <a:rPr lang="en-US" sz="1600" dirty="0" err="1">
                <a:solidFill>
                  <a:schemeClr val="bg1"/>
                </a:solidFill>
              </a:rPr>
              <a:t>marca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poderia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melhorar</a:t>
            </a:r>
            <a:r>
              <a:rPr lang="en-US" sz="1600" dirty="0">
                <a:solidFill>
                  <a:schemeClr val="bg1"/>
                </a:solidFill>
              </a:rPr>
              <a:t> as </a:t>
            </a:r>
            <a:r>
              <a:rPr lang="en-US" sz="1600" dirty="0" err="1">
                <a:solidFill>
                  <a:schemeClr val="bg1"/>
                </a:solidFill>
              </a:rPr>
              <a:t>suas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campanhas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93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">
            <a:extLst>
              <a:ext uri="{FF2B5EF4-FFF2-40B4-BE49-F238E27FC236}">
                <a16:creationId xmlns:a16="http://schemas.microsoft.com/office/drawing/2014/main" id="{56A830ED-9F03-AF14-0587-8C60AC3DD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-2463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0264363-4E54-1BAF-958F-61BE2F14DC2D}"/>
              </a:ext>
            </a:extLst>
          </p:cNvPr>
          <p:cNvSpPr txBox="1"/>
          <p:nvPr/>
        </p:nvSpPr>
        <p:spPr>
          <a:xfrm>
            <a:off x="0" y="81886"/>
            <a:ext cx="12190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  <a:latin typeface="+mj-lt"/>
              </a:rPr>
              <a:t>Introdução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Imagem 6" descr="Uma imagem com encarnado, Gráficos, símbolo, logótipo">
            <a:extLst>
              <a:ext uri="{FF2B5EF4-FFF2-40B4-BE49-F238E27FC236}">
                <a16:creationId xmlns:a16="http://schemas.microsoft.com/office/drawing/2014/main" id="{EFE585CE-2C78-C147-DB1F-E25B2D7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2" y="938117"/>
            <a:ext cx="1465458" cy="146545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14AA240-3F44-57BE-02B5-DFCD6AA07236}"/>
              </a:ext>
            </a:extLst>
          </p:cNvPr>
          <p:cNvSpPr txBox="1"/>
          <p:nvPr/>
        </p:nvSpPr>
        <p:spPr>
          <a:xfrm>
            <a:off x="3166282" y="768840"/>
            <a:ext cx="605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Processo de subscrição: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1" name="Imagem 10" descr="Uma imagem com texto, captura de ecrã, Tipo de letra, documento&#10;&#10;Descrição gerada automaticamente">
            <a:extLst>
              <a:ext uri="{FF2B5EF4-FFF2-40B4-BE49-F238E27FC236}">
                <a16:creationId xmlns:a16="http://schemas.microsoft.com/office/drawing/2014/main" id="{335EC055-73C6-3779-21B5-858425632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036" y="5276800"/>
            <a:ext cx="5532030" cy="1387398"/>
          </a:xfrm>
          <a:prstGeom prst="rect">
            <a:avLst/>
          </a:prstGeom>
        </p:spPr>
      </p:pic>
      <p:pic>
        <p:nvPicPr>
          <p:cNvPr id="13" name="Imagem 12" descr="Uma imagem com texto, captura de ecrã, menu, Tipo de letra">
            <a:extLst>
              <a:ext uri="{FF2B5EF4-FFF2-40B4-BE49-F238E27FC236}">
                <a16:creationId xmlns:a16="http://schemas.microsoft.com/office/drawing/2014/main" id="{1BB69056-DFA4-0F3E-8512-0827C67D58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538" y="1649937"/>
            <a:ext cx="4751730" cy="3084319"/>
          </a:xfrm>
          <a:prstGeom prst="rect">
            <a:avLst/>
          </a:prstGeom>
        </p:spPr>
      </p:pic>
      <p:pic>
        <p:nvPicPr>
          <p:cNvPr id="15" name="Imagem 14" descr="Uma imagem com texto, captura de ecrã, Tipo de letra, algebra&#10;&#10;Descrição gerada automaticamente">
            <a:extLst>
              <a:ext uri="{FF2B5EF4-FFF2-40B4-BE49-F238E27FC236}">
                <a16:creationId xmlns:a16="http://schemas.microsoft.com/office/drawing/2014/main" id="{E5432B02-60A2-3762-3931-A2D5A61944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3" y="4999270"/>
            <a:ext cx="6059606" cy="168276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19BDD79-8C6C-BF71-A236-A33BBC581C94}"/>
              </a:ext>
            </a:extLst>
          </p:cNvPr>
          <p:cNvSpPr txBox="1"/>
          <p:nvPr/>
        </p:nvSpPr>
        <p:spPr>
          <a:xfrm>
            <a:off x="141560" y="118788"/>
            <a:ext cx="21846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0" b="1" dirty="0">
                <a:solidFill>
                  <a:schemeClr val="bg1"/>
                </a:solidFill>
              </a:rPr>
              <a:t>AMD</a:t>
            </a:r>
            <a:endParaRPr lang="en-US" sz="5000" b="1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5533241-8411-7900-C691-462E018DA19A}"/>
              </a:ext>
            </a:extLst>
          </p:cNvPr>
          <p:cNvSpPr txBox="1"/>
          <p:nvPr/>
        </p:nvSpPr>
        <p:spPr>
          <a:xfrm>
            <a:off x="9987218" y="2114878"/>
            <a:ext cx="25692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Processo extenso de forma a permitir personalizar comunicações.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5" name="Imagem 4" descr="Uma imagem com texto, captura de ecrã, Tipo de letra, número&#10;&#10;Descrição gerada automaticamente">
            <a:extLst>
              <a:ext uri="{FF2B5EF4-FFF2-40B4-BE49-F238E27FC236}">
                <a16:creationId xmlns:a16="http://schemas.microsoft.com/office/drawing/2014/main" id="{A331829D-DDA8-094F-C188-AC9FB884B6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480" y="1641436"/>
            <a:ext cx="3233791" cy="309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&#10;&#10;Descrição gerada automaticamente">
            <a:extLst>
              <a:ext uri="{FF2B5EF4-FFF2-40B4-BE49-F238E27FC236}">
                <a16:creationId xmlns:a16="http://schemas.microsoft.com/office/drawing/2014/main" id="{F3AF332B-50AA-C1F7-0634-26B29113C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-1282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9DEC28B-67E1-AE3A-FBC8-6BCA6FF25C6E}"/>
              </a:ext>
            </a:extLst>
          </p:cNvPr>
          <p:cNvSpPr txBox="1"/>
          <p:nvPr/>
        </p:nvSpPr>
        <p:spPr>
          <a:xfrm>
            <a:off x="0" y="65791"/>
            <a:ext cx="12188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  <a:latin typeface="+mj-lt"/>
              </a:rPr>
              <a:t>Frequência </a:t>
            </a:r>
            <a:endParaRPr lang="en-US" sz="32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Imagem 8" descr="Uma imagem com captura de ecrã, texto, design&#10;&#10;Descrição gerada automaticamente">
            <a:extLst>
              <a:ext uri="{FF2B5EF4-FFF2-40B4-BE49-F238E27FC236}">
                <a16:creationId xmlns:a16="http://schemas.microsoft.com/office/drawing/2014/main" id="{6B288ADE-3045-967F-94D4-B96E38352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4" y="1170913"/>
            <a:ext cx="7683885" cy="54792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m 10" descr="Uma imagem com captura de ecrã, círculo, Saturação de cores, Gráficos">
            <a:extLst>
              <a:ext uri="{FF2B5EF4-FFF2-40B4-BE49-F238E27FC236}">
                <a16:creationId xmlns:a16="http://schemas.microsoft.com/office/drawing/2014/main" id="{855335B7-786B-51AC-06C2-15BCB2D6B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397" y="2416957"/>
            <a:ext cx="4217044" cy="30071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04472FD9-888B-6F7F-FB15-E7276B52A155}"/>
              </a:ext>
            </a:extLst>
          </p:cNvPr>
          <p:cNvSpPr txBox="1"/>
          <p:nvPr/>
        </p:nvSpPr>
        <p:spPr>
          <a:xfrm>
            <a:off x="285518" y="471682"/>
            <a:ext cx="3781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Quantidade de “e-mails” que chegaram por cada dia da semana.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272CCB-01E5-CE69-AC93-9A44D801B8E1}"/>
              </a:ext>
            </a:extLst>
          </p:cNvPr>
          <p:cNvSpPr txBox="1"/>
          <p:nvPr/>
        </p:nvSpPr>
        <p:spPr>
          <a:xfrm>
            <a:off x="8312310" y="1833395"/>
            <a:ext cx="3400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Média(%)</a:t>
            </a:r>
            <a:r>
              <a:rPr lang="pt-PT" sz="1600" dirty="0"/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3455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Uma imagem com Saturação de cores, arte, Carmim, encarnado&#10;&#10;Descrição gerada automaticamente">
            <a:extLst>
              <a:ext uri="{FF2B5EF4-FFF2-40B4-BE49-F238E27FC236}">
                <a16:creationId xmlns:a16="http://schemas.microsoft.com/office/drawing/2014/main" id="{D3BB90A5-4A0E-4752-824A-BA8E64469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1" y="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A5992-C0C9-3BA8-93DE-04F44DC50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" y="0"/>
            <a:ext cx="12185902" cy="61572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PT" sz="3200" b="1" dirty="0">
                <a:solidFill>
                  <a:srgbClr val="FFFFFF"/>
                </a:solidFill>
              </a:rPr>
              <a:t>Frequência</a:t>
            </a:r>
            <a:endParaRPr lang="en-US" sz="5200" dirty="0">
              <a:solidFill>
                <a:srgbClr val="FFFFFF"/>
              </a:solidFill>
            </a:endParaRPr>
          </a:p>
        </p:txBody>
      </p:sp>
      <p:pic>
        <p:nvPicPr>
          <p:cNvPr id="10" name="Imagem 9" descr="Uma imagem com captura de ecrã, design&#10;&#10;Descrição gerada automaticamente">
            <a:extLst>
              <a:ext uri="{FF2B5EF4-FFF2-40B4-BE49-F238E27FC236}">
                <a16:creationId xmlns:a16="http://schemas.microsoft.com/office/drawing/2014/main" id="{63961477-4E2D-B871-802E-B1C5E799C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8" y="1872921"/>
            <a:ext cx="6720908" cy="47925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agem 13" descr="Uma imagem com captura de ecrã, Saturação de cores, círculo, Gráficos&#10;&#10;Descrição gerada automaticamente">
            <a:extLst>
              <a:ext uri="{FF2B5EF4-FFF2-40B4-BE49-F238E27FC236}">
                <a16:creationId xmlns:a16="http://schemas.microsoft.com/office/drawing/2014/main" id="{D9900E5F-1CF0-2708-73A3-29139998C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745" y="2202590"/>
            <a:ext cx="5191977" cy="37023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4D2C87BA-DC85-2B41-2F56-3DFD56C15458}"/>
              </a:ext>
            </a:extLst>
          </p:cNvPr>
          <p:cNvSpPr txBox="1"/>
          <p:nvPr/>
        </p:nvSpPr>
        <p:spPr>
          <a:xfrm>
            <a:off x="301404" y="1039826"/>
            <a:ext cx="4731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Horas em chegaram os “e-mails”.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F09A93F-6EC5-11FB-FA05-766D43C89992}"/>
              </a:ext>
            </a:extLst>
          </p:cNvPr>
          <p:cNvSpPr txBox="1"/>
          <p:nvPr/>
        </p:nvSpPr>
        <p:spPr>
          <a:xfrm>
            <a:off x="8054991" y="1488252"/>
            <a:ext cx="33635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Média(%) 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90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&#10;&#10;Descrição gerada automaticamente">
            <a:extLst>
              <a:ext uri="{FF2B5EF4-FFF2-40B4-BE49-F238E27FC236}">
                <a16:creationId xmlns:a16="http://schemas.microsoft.com/office/drawing/2014/main" id="{250B4896-978F-B6A6-9132-7CE4D183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809CA6F-7A0E-740C-EEF0-64CFE771C07B}"/>
              </a:ext>
            </a:extLst>
          </p:cNvPr>
          <p:cNvSpPr txBox="1"/>
          <p:nvPr/>
        </p:nvSpPr>
        <p:spPr>
          <a:xfrm>
            <a:off x="0" y="7278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Frequência</a:t>
            </a:r>
            <a:r>
              <a:rPr lang="pt-PT" dirty="0"/>
              <a:t> </a:t>
            </a:r>
            <a:endParaRPr lang="en-US" dirty="0"/>
          </a:p>
        </p:txBody>
      </p:sp>
      <p:pic>
        <p:nvPicPr>
          <p:cNvPr id="9" name="Imagem 8" descr="Uma imagem com círculo, captura de ecrã, Gráficos&#10;&#10;Descrição gerada automaticamente">
            <a:extLst>
              <a:ext uri="{FF2B5EF4-FFF2-40B4-BE49-F238E27FC236}">
                <a16:creationId xmlns:a16="http://schemas.microsoft.com/office/drawing/2014/main" id="{B21933C7-6653-B2D6-B17A-7B74E4C80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058" y="2346158"/>
            <a:ext cx="4913300" cy="35035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m 10" descr="Uma imagem com captura de ecrã&#10;&#10;Descrição gerada automaticamente">
            <a:extLst>
              <a:ext uri="{FF2B5EF4-FFF2-40B4-BE49-F238E27FC236}">
                <a16:creationId xmlns:a16="http://schemas.microsoft.com/office/drawing/2014/main" id="{A4AE29A3-30F0-1E91-06F8-376E5B82F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1" y="1809549"/>
            <a:ext cx="6863659" cy="4663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E4FA66-F7CC-7A36-3054-BFCC5EFBA5CA}"/>
              </a:ext>
            </a:extLst>
          </p:cNvPr>
          <p:cNvSpPr txBox="1"/>
          <p:nvPr/>
        </p:nvSpPr>
        <p:spPr>
          <a:xfrm>
            <a:off x="303196" y="943276"/>
            <a:ext cx="5967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Que metade do dia recebeu mais “e-mails”.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4E342A-8972-29B5-EEAC-836155C85AC6}"/>
              </a:ext>
            </a:extLst>
          </p:cNvPr>
          <p:cNvSpPr txBox="1"/>
          <p:nvPr/>
        </p:nvSpPr>
        <p:spPr>
          <a:xfrm>
            <a:off x="8197755" y="1579600"/>
            <a:ext cx="2966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Média(%)</a:t>
            </a:r>
            <a:r>
              <a:rPr lang="pt-PT" sz="1600" dirty="0"/>
              <a:t>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07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Uma imagem com Saturação de cores, arte, Carmim, encarnado&#10;&#10;Descrição gerada automaticamente">
            <a:extLst>
              <a:ext uri="{FF2B5EF4-FFF2-40B4-BE49-F238E27FC236}">
                <a16:creationId xmlns:a16="http://schemas.microsoft.com/office/drawing/2014/main" id="{4A53BFD6-1D7D-9726-0C32-0F1128EBE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DBAB0EF-7F70-F0D1-CB9B-C22F8511F033}"/>
              </a:ext>
            </a:extLst>
          </p:cNvPr>
          <p:cNvSpPr txBox="1"/>
          <p:nvPr/>
        </p:nvSpPr>
        <p:spPr>
          <a:xfrm>
            <a:off x="0" y="6690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Relevância</a:t>
            </a:r>
            <a:r>
              <a:rPr lang="pt-PT" dirty="0"/>
              <a:t> </a:t>
            </a:r>
            <a:endParaRPr lang="en-US" dirty="0"/>
          </a:p>
        </p:txBody>
      </p:sp>
      <p:pic>
        <p:nvPicPr>
          <p:cNvPr id="8" name="Imagem 7" descr="Uma imagem com texto, computador, captura de ecrã, Website&#10;&#10;Descrição gerada automaticamente">
            <a:extLst>
              <a:ext uri="{FF2B5EF4-FFF2-40B4-BE49-F238E27FC236}">
                <a16:creationId xmlns:a16="http://schemas.microsoft.com/office/drawing/2014/main" id="{D0A23E40-ACAF-DE5E-1E05-968028292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71" y="1281297"/>
            <a:ext cx="2345688" cy="39554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m 10" descr="Uma imagem com texto, captura de ecrã, menu, Tipo de letra&#10;&#10;Descrição gerada automaticamente">
            <a:extLst>
              <a:ext uri="{FF2B5EF4-FFF2-40B4-BE49-F238E27FC236}">
                <a16:creationId xmlns:a16="http://schemas.microsoft.com/office/drawing/2014/main" id="{02586FCF-E59C-A90D-4716-E3CA5AC05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62" y="1281297"/>
            <a:ext cx="5581571" cy="39554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ABDAD83-F253-7873-FB4B-962B6CDA7744}"/>
              </a:ext>
            </a:extLst>
          </p:cNvPr>
          <p:cNvSpPr txBox="1"/>
          <p:nvPr/>
        </p:nvSpPr>
        <p:spPr>
          <a:xfrm>
            <a:off x="8618806" y="1281297"/>
            <a:ext cx="3226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Os “e-mails” são relevantes e vão ao encontro das minhas preferências, escolhidas aquando do momento da subscrição.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1271FF-F337-8E15-AD45-A98B911021A1}"/>
              </a:ext>
            </a:extLst>
          </p:cNvPr>
          <p:cNvSpPr txBox="1"/>
          <p:nvPr/>
        </p:nvSpPr>
        <p:spPr>
          <a:xfrm>
            <a:off x="8671759" y="3388240"/>
            <a:ext cx="3120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Dos 29 e-mails recebidos, considerei 0 irrelevantes.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33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">
            <a:extLst>
              <a:ext uri="{FF2B5EF4-FFF2-40B4-BE49-F238E27FC236}">
                <a16:creationId xmlns:a16="http://schemas.microsoft.com/office/drawing/2014/main" id="{836AC1F4-8161-ED6E-E57C-BC003B31C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2C4A1D-DBA0-6437-FB8E-55DB4BA54099}"/>
              </a:ext>
            </a:extLst>
          </p:cNvPr>
          <p:cNvSpPr txBox="1"/>
          <p:nvPr/>
        </p:nvSpPr>
        <p:spPr>
          <a:xfrm>
            <a:off x="-1504" y="49065"/>
            <a:ext cx="12191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Fase da Jornada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m texto, Carmim, encarnado&#10;&#10;Descrição gerada automaticamente">
            <a:extLst>
              <a:ext uri="{FF2B5EF4-FFF2-40B4-BE49-F238E27FC236}">
                <a16:creationId xmlns:a16="http://schemas.microsoft.com/office/drawing/2014/main" id="{7A462C24-440E-D068-5B65-F6033C204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9" y="633840"/>
            <a:ext cx="3965993" cy="26439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m 8" descr="Uma imagem com texto, Tipo de letra, logótipo, captura de ecrã&#10;&#10;Descrição gerada automaticamente">
            <a:extLst>
              <a:ext uri="{FF2B5EF4-FFF2-40B4-BE49-F238E27FC236}">
                <a16:creationId xmlns:a16="http://schemas.microsoft.com/office/drawing/2014/main" id="{D09E9700-D7A6-D3F0-B19C-F7FD563D2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376" y="3730262"/>
            <a:ext cx="6667933" cy="2764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8C3E8DE-2D68-20DC-4826-A9C2388A3369}"/>
              </a:ext>
            </a:extLst>
          </p:cNvPr>
          <p:cNvSpPr txBox="1"/>
          <p:nvPr/>
        </p:nvSpPr>
        <p:spPr>
          <a:xfrm>
            <a:off x="4509655" y="741218"/>
            <a:ext cx="717665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Tráfego Quente: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b="1" dirty="0">
                <a:solidFill>
                  <a:schemeClr val="bg1"/>
                </a:solidFill>
              </a:rPr>
              <a:t>Familiaridade</a:t>
            </a:r>
            <a:r>
              <a:rPr lang="en-US" sz="1600" b="1" dirty="0">
                <a:solidFill>
                  <a:schemeClr val="bg1"/>
                </a:solidFill>
              </a:rPr>
              <a:t> com a </a:t>
            </a:r>
            <a:r>
              <a:rPr lang="en-US" sz="1600" b="1" dirty="0" err="1">
                <a:solidFill>
                  <a:schemeClr val="bg1"/>
                </a:solidFill>
              </a:rPr>
              <a:t>marca</a:t>
            </a: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Confiança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na</a:t>
            </a:r>
            <a:r>
              <a:rPr lang="en-US" sz="1600" b="1" dirty="0">
                <a:solidFill>
                  <a:schemeClr val="bg1"/>
                </a:solidFill>
              </a:rPr>
              <a:t> AMD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Ciente</a:t>
            </a:r>
            <a:r>
              <a:rPr lang="en-US" sz="1600" b="1" dirty="0">
                <a:solidFill>
                  <a:schemeClr val="bg1"/>
                </a:solidFill>
              </a:rPr>
              <a:t> do </a:t>
            </a:r>
            <a:r>
              <a:rPr lang="en-US" sz="1600" b="1" dirty="0" err="1">
                <a:solidFill>
                  <a:schemeClr val="bg1"/>
                </a:solidFill>
              </a:rPr>
              <a:t>problema</a:t>
            </a:r>
            <a:r>
              <a:rPr lang="en-US" sz="1600" b="1" dirty="0">
                <a:solidFill>
                  <a:schemeClr val="bg1"/>
                </a:solidFill>
              </a:rPr>
              <a:t> e das </a:t>
            </a:r>
            <a:r>
              <a:rPr lang="en-US" sz="1600" b="1" dirty="0" err="1">
                <a:solidFill>
                  <a:schemeClr val="bg1"/>
                </a:solidFill>
              </a:rPr>
              <a:t>soluções</a:t>
            </a: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bg1"/>
                </a:solidFill>
              </a:rPr>
              <a:t>Conhecimento</a:t>
            </a:r>
            <a:r>
              <a:rPr lang="en-US" sz="1600" b="1" dirty="0">
                <a:solidFill>
                  <a:schemeClr val="bg1"/>
                </a:solidFill>
              </a:rPr>
              <a:t> do </a:t>
            </a:r>
            <a:r>
              <a:rPr lang="en-US" sz="1600" b="1" dirty="0" err="1">
                <a:solidFill>
                  <a:schemeClr val="bg1"/>
                </a:solidFill>
              </a:rPr>
              <a:t>produto</a:t>
            </a: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061BD13-AAC6-D074-1ACB-BD226CD0B5E9}"/>
              </a:ext>
            </a:extLst>
          </p:cNvPr>
          <p:cNvSpPr txBox="1"/>
          <p:nvPr/>
        </p:nvSpPr>
        <p:spPr>
          <a:xfrm>
            <a:off x="481733" y="3657600"/>
            <a:ext cx="3639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Designação atual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</a:p>
          <a:p>
            <a:r>
              <a:rPr lang="en-US" sz="1600" b="1" dirty="0" err="1">
                <a:solidFill>
                  <a:schemeClr val="bg1"/>
                </a:solidFill>
              </a:rPr>
              <a:t>Cliente</a:t>
            </a:r>
            <a:endParaRPr lang="en-US" sz="16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1" dirty="0" err="1">
                <a:solidFill>
                  <a:schemeClr val="bg1"/>
                </a:solidFill>
              </a:rPr>
              <a:t>Os</a:t>
            </a:r>
            <a:r>
              <a:rPr lang="en-US" sz="1600" b="1" dirty="0">
                <a:solidFill>
                  <a:schemeClr val="bg1"/>
                </a:solidFill>
              </a:rPr>
              <a:t> “e-mails” que me </a:t>
            </a:r>
            <a:r>
              <a:rPr lang="en-US" sz="1600" b="1" dirty="0" err="1">
                <a:solidFill>
                  <a:schemeClr val="bg1"/>
                </a:solidFill>
              </a:rPr>
              <a:t>chegam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têm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como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objectivo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nutrir,são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informativos</a:t>
            </a:r>
            <a:r>
              <a:rPr lang="en-US" sz="1600" b="1" dirty="0">
                <a:solidFill>
                  <a:schemeClr val="bg1"/>
                </a:solidFill>
              </a:rPr>
              <a:t> e </a:t>
            </a:r>
            <a:r>
              <a:rPr lang="en-US" sz="1600" b="1" dirty="0" err="1">
                <a:solidFill>
                  <a:schemeClr val="bg1"/>
                </a:solidFill>
              </a:rPr>
              <a:t>por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vezes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pt-PT" sz="1600" b="1" dirty="0">
                <a:solidFill>
                  <a:schemeClr val="bg1"/>
                </a:solidFill>
              </a:rPr>
              <a:t>contêm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convites</a:t>
            </a:r>
            <a:r>
              <a:rPr lang="en-US" sz="1600" b="1" dirty="0">
                <a:solidFill>
                  <a:schemeClr val="bg1"/>
                </a:solidFill>
              </a:rPr>
              <a:t> para “webinars” e </a:t>
            </a:r>
            <a:r>
              <a:rPr lang="en-US" sz="1600" b="1" dirty="0" err="1">
                <a:solidFill>
                  <a:schemeClr val="bg1"/>
                </a:solidFill>
              </a:rPr>
              <a:t>também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acesso</a:t>
            </a:r>
            <a:r>
              <a:rPr lang="en-US" sz="1600" b="1" dirty="0">
                <a:solidFill>
                  <a:schemeClr val="bg1"/>
                </a:solidFill>
              </a:rPr>
              <a:t> a “pdf´s” </a:t>
            </a:r>
            <a:r>
              <a:rPr lang="pt-PT" sz="1600" b="1" dirty="0">
                <a:solidFill>
                  <a:schemeClr val="bg1"/>
                </a:solidFill>
              </a:rPr>
              <a:t>disponíveis</a:t>
            </a:r>
            <a:r>
              <a:rPr lang="en-US" sz="1600" b="1" dirty="0">
                <a:solidFill>
                  <a:schemeClr val="bg1"/>
                </a:solidFill>
              </a:rPr>
              <a:t> para download no “website” da </a:t>
            </a:r>
            <a:r>
              <a:rPr lang="en-US" sz="1600" b="1" dirty="0" err="1">
                <a:solidFill>
                  <a:schemeClr val="bg1"/>
                </a:solidFill>
              </a:rPr>
              <a:t>marca</a:t>
            </a:r>
            <a:r>
              <a:rPr lang="en-US" sz="1600" b="1" dirty="0">
                <a:solidFill>
                  <a:schemeClr val="bg1"/>
                </a:solidFill>
              </a:rPr>
              <a:t>.</a:t>
            </a:r>
            <a:endParaRPr lang="pt-PT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271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">
            <a:extLst>
              <a:ext uri="{FF2B5EF4-FFF2-40B4-BE49-F238E27FC236}">
                <a16:creationId xmlns:a16="http://schemas.microsoft.com/office/drawing/2014/main" id="{8F6C546A-00B1-E47B-FEC4-10E893E54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E242E54-546D-4505-595D-E7F4B1E2866E}"/>
              </a:ext>
            </a:extLst>
          </p:cNvPr>
          <p:cNvSpPr txBox="1"/>
          <p:nvPr/>
        </p:nvSpPr>
        <p:spPr>
          <a:xfrm>
            <a:off x="0" y="1248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Anatomia do “E-mail”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Uma imagem com texto, computador, captura de ecrã, Website&#10;&#10;Descrição gerada automaticamente">
            <a:extLst>
              <a:ext uri="{FF2B5EF4-FFF2-40B4-BE49-F238E27FC236}">
                <a16:creationId xmlns:a16="http://schemas.microsoft.com/office/drawing/2014/main" id="{D1955534-DD28-C3D1-9A56-F312D348E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56" y="1913880"/>
            <a:ext cx="2503602" cy="4221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m 8" descr="Uma imagem com texto, captura de ecrã&#10;&#10;Descrição gerada automaticamente">
            <a:extLst>
              <a:ext uri="{FF2B5EF4-FFF2-40B4-BE49-F238E27FC236}">
                <a16:creationId xmlns:a16="http://schemas.microsoft.com/office/drawing/2014/main" id="{C06E8362-2051-5B92-01C7-CC63A47DC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416" y="1913880"/>
            <a:ext cx="1950744" cy="4221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m 10" descr="Uma imagem com texto, eletrónica, captura de ecrã, computador&#10;&#10;Descrição gerada automaticamente">
            <a:extLst>
              <a:ext uri="{FF2B5EF4-FFF2-40B4-BE49-F238E27FC236}">
                <a16:creationId xmlns:a16="http://schemas.microsoft.com/office/drawing/2014/main" id="{B4BF1CEE-E1C6-F485-24F3-BFEEE2335E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773" y="1913880"/>
            <a:ext cx="2129403" cy="41952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m 12" descr="Uma imagem com texto, computador, captura de ecrã, Website&#10;&#10;Descrição gerada automaticamente">
            <a:extLst>
              <a:ext uri="{FF2B5EF4-FFF2-40B4-BE49-F238E27FC236}">
                <a16:creationId xmlns:a16="http://schemas.microsoft.com/office/drawing/2014/main" id="{945BF1AD-E5A4-8E18-7BE0-F2746FD514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319" y="1913880"/>
            <a:ext cx="2025412" cy="41717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m 14" descr="Uma imagem com texto, eletrónica, computador, captura de ecrã&#10;&#10;Descrição gerada automaticamente">
            <a:extLst>
              <a:ext uri="{FF2B5EF4-FFF2-40B4-BE49-F238E27FC236}">
                <a16:creationId xmlns:a16="http://schemas.microsoft.com/office/drawing/2014/main" id="{A24F5564-97E7-8AC9-0B00-79B4C344CA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118" y="1913880"/>
            <a:ext cx="2439512" cy="41959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75E626-E73F-C501-0694-532BA1752E26}"/>
              </a:ext>
            </a:extLst>
          </p:cNvPr>
          <p:cNvSpPr txBox="1"/>
          <p:nvPr/>
        </p:nvSpPr>
        <p:spPr>
          <a:xfrm>
            <a:off x="50691" y="1520791"/>
            <a:ext cx="2622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Descubra novos produtos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F8B932A-137E-09F3-A263-1426067D865D}"/>
              </a:ext>
            </a:extLst>
          </p:cNvPr>
          <p:cNvSpPr txBox="1"/>
          <p:nvPr/>
        </p:nvSpPr>
        <p:spPr>
          <a:xfrm>
            <a:off x="2783358" y="1274570"/>
            <a:ext cx="2012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Mais sobre os nossos parceiros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616032E-788E-93AF-DF61-962758A78535}"/>
              </a:ext>
            </a:extLst>
          </p:cNvPr>
          <p:cNvSpPr txBox="1"/>
          <p:nvPr/>
        </p:nvSpPr>
        <p:spPr>
          <a:xfrm>
            <a:off x="4977904" y="1029248"/>
            <a:ext cx="2499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Assista a este “</a:t>
            </a:r>
            <a:r>
              <a:rPr lang="pt-PT" sz="1600" b="1" dirty="0" err="1">
                <a:solidFill>
                  <a:schemeClr val="bg1"/>
                </a:solidFill>
              </a:rPr>
              <a:t>webinar</a:t>
            </a:r>
            <a:r>
              <a:rPr lang="pt-PT" sz="1600" b="1" dirty="0">
                <a:solidFill>
                  <a:schemeClr val="bg1"/>
                </a:solidFill>
              </a:rPr>
              <a:t>” para descobrir mais sobre este tópico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1E4545-566E-AB69-9F9B-0D1FB15338DF}"/>
              </a:ext>
            </a:extLst>
          </p:cNvPr>
          <p:cNvSpPr txBox="1"/>
          <p:nvPr/>
        </p:nvSpPr>
        <p:spPr>
          <a:xfrm>
            <a:off x="7617510" y="1041750"/>
            <a:ext cx="2230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Faça o download deste “PDF” para saber mais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6CF1E6F-6B44-EF23-7624-712C457324AD}"/>
              </a:ext>
            </a:extLst>
          </p:cNvPr>
          <p:cNvSpPr txBox="1"/>
          <p:nvPr/>
        </p:nvSpPr>
        <p:spPr>
          <a:xfrm>
            <a:off x="10006409" y="795529"/>
            <a:ext cx="20254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solidFill>
                  <a:schemeClr val="bg1"/>
                </a:solidFill>
              </a:rPr>
              <a:t>Leia este “</a:t>
            </a:r>
            <a:r>
              <a:rPr lang="pt-PT" sz="1600" b="1" dirty="0" err="1">
                <a:solidFill>
                  <a:schemeClr val="bg1"/>
                </a:solidFill>
              </a:rPr>
              <a:t>whitepaper</a:t>
            </a:r>
            <a:r>
              <a:rPr lang="pt-PT" sz="1600" b="1" dirty="0">
                <a:solidFill>
                  <a:schemeClr val="bg1"/>
                </a:solidFill>
              </a:rPr>
              <a:t>” no nosso website para saber mais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819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">
            <a:extLst>
              <a:ext uri="{FF2B5EF4-FFF2-40B4-BE49-F238E27FC236}">
                <a16:creationId xmlns:a16="http://schemas.microsoft.com/office/drawing/2014/main" id="{191CFF6D-ADFA-242B-660D-5CC4405B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C631845-5F55-9A0A-7327-2E2BB964BD6F}"/>
              </a:ext>
            </a:extLst>
          </p:cNvPr>
          <p:cNvSpPr txBox="1"/>
          <p:nvPr/>
        </p:nvSpPr>
        <p:spPr>
          <a:xfrm>
            <a:off x="-1504" y="35121"/>
            <a:ext cx="12191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Anatomia do “E-mail”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9" name="Imagem 8" descr="Uma imagem com texto, computador, captura de ecrã, Website&#10;&#10;Descrição gerada automaticamente">
            <a:extLst>
              <a:ext uri="{FF2B5EF4-FFF2-40B4-BE49-F238E27FC236}">
                <a16:creationId xmlns:a16="http://schemas.microsoft.com/office/drawing/2014/main" id="{F32C6892-AEE5-52ED-D5CA-4DFF04E1C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024" y="943299"/>
            <a:ext cx="3251824" cy="54834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m 10" descr="Uma imagem com texto, captura de ecrã, Website, Página web">
            <a:extLst>
              <a:ext uri="{FF2B5EF4-FFF2-40B4-BE49-F238E27FC236}">
                <a16:creationId xmlns:a16="http://schemas.microsoft.com/office/drawing/2014/main" id="{6657F2B9-9D18-1240-DC71-53FE396E2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193" y="899122"/>
            <a:ext cx="3251823" cy="55718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E3C9D1-99FE-FEAD-B989-5A174175AF13}"/>
              </a:ext>
            </a:extLst>
          </p:cNvPr>
          <p:cNvSpPr txBox="1"/>
          <p:nvPr/>
        </p:nvSpPr>
        <p:spPr>
          <a:xfrm>
            <a:off x="1298193" y="543017"/>
            <a:ext cx="3300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Sem imagens </a:t>
            </a:r>
            <a:r>
              <a:rPr lang="en-US" sz="1600" b="1" dirty="0" err="1">
                <a:solidFill>
                  <a:schemeClr val="bg1"/>
                </a:solidFill>
              </a:rPr>
              <a:t>carregadas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D2074D3-CC21-90FE-E836-E1604FF41680}"/>
              </a:ext>
            </a:extLst>
          </p:cNvPr>
          <p:cNvSpPr txBox="1"/>
          <p:nvPr/>
        </p:nvSpPr>
        <p:spPr>
          <a:xfrm>
            <a:off x="7103024" y="577967"/>
            <a:ext cx="32051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Com imagens </a:t>
            </a:r>
            <a:r>
              <a:rPr lang="en-US" sz="1600" b="1" dirty="0" err="1">
                <a:solidFill>
                  <a:schemeClr val="bg1"/>
                </a:solidFill>
              </a:rPr>
              <a:t>carregadas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873621B-5500-F3A8-BDF1-EE5D4E4FEC2F}"/>
              </a:ext>
            </a:extLst>
          </p:cNvPr>
          <p:cNvSpPr/>
          <p:nvPr/>
        </p:nvSpPr>
        <p:spPr>
          <a:xfrm>
            <a:off x="4848550" y="1231095"/>
            <a:ext cx="1784195" cy="10526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Cabe</a:t>
            </a:r>
            <a:r>
              <a:rPr lang="pt-PT" sz="1600" dirty="0" err="1"/>
              <a:t>çalho</a:t>
            </a:r>
            <a:endParaRPr lang="en-US" sz="1600" dirty="0"/>
          </a:p>
        </p:txBody>
      </p: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E411E63F-E795-84FA-4AB1-08D3F311982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632745" y="1757433"/>
            <a:ext cx="1998299" cy="187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F617288-A9E9-8F75-0C21-696C9BA0315E}"/>
              </a:ext>
            </a:extLst>
          </p:cNvPr>
          <p:cNvSpPr/>
          <p:nvPr/>
        </p:nvSpPr>
        <p:spPr>
          <a:xfrm>
            <a:off x="10540134" y="2868094"/>
            <a:ext cx="1445198" cy="11008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Texto</a:t>
            </a:r>
            <a:endParaRPr lang="en-US" sz="1600" dirty="0"/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03790035-F6A0-56F9-9433-B7B2FB597F10}"/>
              </a:ext>
            </a:extLst>
          </p:cNvPr>
          <p:cNvCxnSpPr>
            <a:cxnSpLocks/>
          </p:cNvCxnSpPr>
          <p:nvPr/>
        </p:nvCxnSpPr>
        <p:spPr>
          <a:xfrm flipH="1" flipV="1">
            <a:off x="8791621" y="3345365"/>
            <a:ext cx="1748513" cy="50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718101E-53BF-C9A3-1266-1A2F7B297FBE}"/>
              </a:ext>
            </a:extLst>
          </p:cNvPr>
          <p:cNvSpPr/>
          <p:nvPr/>
        </p:nvSpPr>
        <p:spPr>
          <a:xfrm>
            <a:off x="5580070" y="4419707"/>
            <a:ext cx="1177091" cy="149872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“</a:t>
            </a:r>
            <a:r>
              <a:rPr lang="pt-PT" sz="1600" dirty="0" err="1"/>
              <a:t>Call</a:t>
            </a:r>
            <a:r>
              <a:rPr lang="pt-PT" sz="1600" dirty="0"/>
              <a:t> to </a:t>
            </a:r>
            <a:r>
              <a:rPr lang="pt-PT" sz="1600" dirty="0" err="1"/>
              <a:t>Action</a:t>
            </a:r>
            <a:r>
              <a:rPr lang="pt-PT" sz="1600" dirty="0"/>
              <a:t>”</a:t>
            </a:r>
          </a:p>
          <a:p>
            <a:pPr algn="ctr"/>
            <a:r>
              <a:rPr lang="pt-PT" sz="1600" dirty="0"/>
              <a:t>(CTA)</a:t>
            </a:r>
            <a:endParaRPr lang="en-US" sz="1600" dirty="0"/>
          </a:p>
        </p:txBody>
      </p: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112B483F-57F3-49AA-016D-25649C67E569}"/>
              </a:ext>
            </a:extLst>
          </p:cNvPr>
          <p:cNvCxnSpPr/>
          <p:nvPr/>
        </p:nvCxnSpPr>
        <p:spPr>
          <a:xfrm flipV="1">
            <a:off x="6917738" y="3920769"/>
            <a:ext cx="724248" cy="492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834AB44A-36F9-0202-C105-F0275D7CD514}"/>
              </a:ext>
            </a:extLst>
          </p:cNvPr>
          <p:cNvCxnSpPr>
            <a:stCxn id="22" idx="3"/>
          </p:cNvCxnSpPr>
          <p:nvPr/>
        </p:nvCxnSpPr>
        <p:spPr>
          <a:xfrm flipV="1">
            <a:off x="6757161" y="3904551"/>
            <a:ext cx="2248564" cy="1264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E254A9FC-4F45-4A00-77DC-32B22660A6A6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6757161" y="4673955"/>
            <a:ext cx="2480510" cy="495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3DF60A4-F15D-88F8-61BF-016337EE7A2B}"/>
              </a:ext>
            </a:extLst>
          </p:cNvPr>
          <p:cNvSpPr/>
          <p:nvPr/>
        </p:nvSpPr>
        <p:spPr>
          <a:xfrm>
            <a:off x="10629342" y="549003"/>
            <a:ext cx="1409515" cy="12597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Ver no navegador</a:t>
            </a:r>
            <a:endParaRPr lang="en-US" sz="1600" dirty="0"/>
          </a:p>
        </p:txBody>
      </p: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EBD0C8FA-5921-12F4-7D84-8D5AAAB8AA2F}"/>
              </a:ext>
            </a:extLst>
          </p:cNvPr>
          <p:cNvCxnSpPr>
            <a:cxnSpLocks/>
          </p:cNvCxnSpPr>
          <p:nvPr/>
        </p:nvCxnSpPr>
        <p:spPr>
          <a:xfrm flipH="1">
            <a:off x="10158092" y="1161038"/>
            <a:ext cx="471250" cy="290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CE5969C-EF2B-57E2-1511-42176EB6CD15}"/>
              </a:ext>
            </a:extLst>
          </p:cNvPr>
          <p:cNvSpPr/>
          <p:nvPr/>
        </p:nvSpPr>
        <p:spPr>
          <a:xfrm>
            <a:off x="4848550" y="2640609"/>
            <a:ext cx="1641459" cy="87868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“</a:t>
            </a:r>
            <a:r>
              <a:rPr lang="pt-PT" sz="1600" dirty="0" err="1"/>
              <a:t>Alternative</a:t>
            </a:r>
            <a:r>
              <a:rPr lang="pt-PT" sz="1600" dirty="0"/>
              <a:t> </a:t>
            </a:r>
            <a:r>
              <a:rPr lang="pt-PT" sz="1600" dirty="0" err="1"/>
              <a:t>text</a:t>
            </a:r>
            <a:r>
              <a:rPr lang="pt-PT" sz="1600" dirty="0"/>
              <a:t>”</a:t>
            </a:r>
            <a:endParaRPr lang="en-US" sz="1600" dirty="0"/>
          </a:p>
        </p:txBody>
      </p:sp>
      <p:cxnSp>
        <p:nvCxnSpPr>
          <p:cNvPr id="43" name="Conexão reta unidirecional 42">
            <a:extLst>
              <a:ext uri="{FF2B5EF4-FFF2-40B4-BE49-F238E27FC236}">
                <a16:creationId xmlns:a16="http://schemas.microsoft.com/office/drawing/2014/main" id="{A49494E1-ADAA-CD8A-B07D-6EF00CFA65A7}"/>
              </a:ext>
            </a:extLst>
          </p:cNvPr>
          <p:cNvCxnSpPr/>
          <p:nvPr/>
        </p:nvCxnSpPr>
        <p:spPr>
          <a:xfrm flipH="1" flipV="1">
            <a:off x="3296300" y="1231095"/>
            <a:ext cx="1552250" cy="184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58DCB82-C897-2A81-7BC8-5610FD5A3F81}"/>
              </a:ext>
            </a:extLst>
          </p:cNvPr>
          <p:cNvSpPr/>
          <p:nvPr/>
        </p:nvSpPr>
        <p:spPr>
          <a:xfrm>
            <a:off x="79320" y="2599238"/>
            <a:ext cx="1127285" cy="19202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Opção negativa</a:t>
            </a:r>
          </a:p>
          <a:p>
            <a:pPr algn="ctr"/>
            <a:r>
              <a:rPr lang="pt-PT" sz="1600" dirty="0"/>
              <a:t>+</a:t>
            </a:r>
          </a:p>
          <a:p>
            <a:pPr algn="ctr"/>
            <a:r>
              <a:rPr lang="pt-PT" sz="1600" dirty="0"/>
              <a:t>Gerir preferências e </a:t>
            </a:r>
            <a:r>
              <a:rPr lang="pt-PT" sz="1600" dirty="0" err="1"/>
              <a:t>Info</a:t>
            </a:r>
            <a:endParaRPr lang="en-US" sz="1600" dirty="0"/>
          </a:p>
        </p:txBody>
      </p:sp>
      <p:cxnSp>
        <p:nvCxnSpPr>
          <p:cNvPr id="46" name="Conexão reta unidirecional 45">
            <a:extLst>
              <a:ext uri="{FF2B5EF4-FFF2-40B4-BE49-F238E27FC236}">
                <a16:creationId xmlns:a16="http://schemas.microsoft.com/office/drawing/2014/main" id="{A4E981B8-9EBE-EA1C-7981-BC4202666723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206605" y="3559358"/>
            <a:ext cx="2439091" cy="2649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26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&#10;&#10;Descrição gerada automaticamente">
            <a:extLst>
              <a:ext uri="{FF2B5EF4-FFF2-40B4-BE49-F238E27FC236}">
                <a16:creationId xmlns:a16="http://schemas.microsoft.com/office/drawing/2014/main" id="{E4D43A62-D450-47AE-E2F1-A1AAEBD72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218ACAC-BDC5-6C01-C9FA-22B079126E86}"/>
              </a:ext>
            </a:extLst>
          </p:cNvPr>
          <p:cNvSpPr txBox="1"/>
          <p:nvPr/>
        </p:nvSpPr>
        <p:spPr>
          <a:xfrm>
            <a:off x="1" y="7136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Remetente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9" name="Imagem 8" descr="Uma imagem com texto, captura de ecrã, Tipo de letra&#10;&#10;Descrição gerada automaticamente">
            <a:extLst>
              <a:ext uri="{FF2B5EF4-FFF2-40B4-BE49-F238E27FC236}">
                <a16:creationId xmlns:a16="http://schemas.microsoft.com/office/drawing/2014/main" id="{D75751B3-0318-E049-6399-5B4C0FEC6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423" y="1258919"/>
            <a:ext cx="6029369" cy="2109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2F0F896-7B4B-91BB-C702-1AE737657FDE}"/>
              </a:ext>
            </a:extLst>
          </p:cNvPr>
          <p:cNvSpPr/>
          <p:nvPr/>
        </p:nvSpPr>
        <p:spPr>
          <a:xfrm>
            <a:off x="7357429" y="3658452"/>
            <a:ext cx="2021519" cy="291779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Aqui a marca recusa o “NOREPLY” e em vez disso recorre ao “</a:t>
            </a:r>
            <a:r>
              <a:rPr lang="pt-PT" sz="1600" dirty="0" err="1"/>
              <a:t>reply.engage</a:t>
            </a:r>
            <a:r>
              <a:rPr lang="pt-PT" sz="1600" dirty="0"/>
              <a:t>” para mostrar abertura ao contacto</a:t>
            </a:r>
            <a:endParaRPr lang="en-US" sz="1600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891C930-56C5-785D-2BD6-DE46B72168B7}"/>
              </a:ext>
            </a:extLst>
          </p:cNvPr>
          <p:cNvSpPr/>
          <p:nvPr/>
        </p:nvSpPr>
        <p:spPr>
          <a:xfrm>
            <a:off x="1435111" y="3724507"/>
            <a:ext cx="2355138" cy="22480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 campo do nome do remetente esta marca dispõe do espaço para personalizar mais esta comunicação</a:t>
            </a:r>
            <a:endParaRPr lang="en-US" sz="1600" dirty="0"/>
          </a:p>
        </p:txBody>
      </p:sp>
      <p:cxnSp>
        <p:nvCxnSpPr>
          <p:cNvPr id="33" name="Conexão reta unidirecional 32">
            <a:extLst>
              <a:ext uri="{FF2B5EF4-FFF2-40B4-BE49-F238E27FC236}">
                <a16:creationId xmlns:a16="http://schemas.microsoft.com/office/drawing/2014/main" id="{CF2FD529-C66A-FA64-3826-7D16FA2B8DCF}"/>
              </a:ext>
            </a:extLst>
          </p:cNvPr>
          <p:cNvCxnSpPr>
            <a:stCxn id="11" idx="0"/>
          </p:cNvCxnSpPr>
          <p:nvPr/>
        </p:nvCxnSpPr>
        <p:spPr>
          <a:xfrm flipH="1" flipV="1">
            <a:off x="5156324" y="2261467"/>
            <a:ext cx="3211865" cy="1396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314C87D3-FD77-8FC1-B34D-AFDF76130B38}"/>
              </a:ext>
            </a:extLst>
          </p:cNvPr>
          <p:cNvCxnSpPr>
            <a:stCxn id="27" idx="0"/>
          </p:cNvCxnSpPr>
          <p:nvPr/>
        </p:nvCxnSpPr>
        <p:spPr>
          <a:xfrm flipV="1">
            <a:off x="2612680" y="1779735"/>
            <a:ext cx="991394" cy="1944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71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&#10;&#10;Descrição gerada automaticamente">
            <a:extLst>
              <a:ext uri="{FF2B5EF4-FFF2-40B4-BE49-F238E27FC236}">
                <a16:creationId xmlns:a16="http://schemas.microsoft.com/office/drawing/2014/main" id="{F86FDC06-0790-568A-7000-504CDF041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99B62AF-62BE-FAB0-8C26-ACA896A04FB0}"/>
              </a:ext>
            </a:extLst>
          </p:cNvPr>
          <p:cNvSpPr txBox="1"/>
          <p:nvPr/>
        </p:nvSpPr>
        <p:spPr>
          <a:xfrm>
            <a:off x="0" y="133815"/>
            <a:ext cx="12190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“</a:t>
            </a:r>
            <a:r>
              <a:rPr lang="pt-PT" sz="3200" b="1" dirty="0" err="1">
                <a:solidFill>
                  <a:schemeClr val="bg1"/>
                </a:solidFill>
              </a:rPr>
              <a:t>Subjects</a:t>
            </a:r>
            <a:r>
              <a:rPr lang="pt-PT" sz="3200" b="1" dirty="0">
                <a:solidFill>
                  <a:schemeClr val="bg1"/>
                </a:solidFill>
              </a:rPr>
              <a:t>” e “</a:t>
            </a:r>
            <a:r>
              <a:rPr lang="pt-PT" sz="3200" b="1" dirty="0" err="1">
                <a:solidFill>
                  <a:schemeClr val="bg1"/>
                </a:solidFill>
              </a:rPr>
              <a:t>Preview</a:t>
            </a:r>
            <a:r>
              <a:rPr lang="pt-PT" sz="3200" b="1" dirty="0">
                <a:solidFill>
                  <a:schemeClr val="bg1"/>
                </a:solidFill>
              </a:rPr>
              <a:t> </a:t>
            </a:r>
            <a:r>
              <a:rPr lang="pt-PT" sz="3200" b="1" dirty="0" err="1">
                <a:solidFill>
                  <a:schemeClr val="bg1"/>
                </a:solidFill>
              </a:rPr>
              <a:t>Texts</a:t>
            </a:r>
            <a:r>
              <a:rPr lang="pt-PT" sz="3200" b="1" dirty="0">
                <a:solidFill>
                  <a:schemeClr val="bg1"/>
                </a:solidFill>
              </a:rPr>
              <a:t>”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B03E4F-7F23-437A-E872-9BF71AE53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" y="2064427"/>
            <a:ext cx="12058650" cy="228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BA8C52E-6C93-A3A8-68D0-BCCF49347DEA}"/>
              </a:ext>
            </a:extLst>
          </p:cNvPr>
          <p:cNvSpPr/>
          <p:nvPr/>
        </p:nvSpPr>
        <p:spPr>
          <a:xfrm>
            <a:off x="1426191" y="4019266"/>
            <a:ext cx="3794078" cy="245659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No campo do “</a:t>
            </a:r>
            <a:r>
              <a:rPr lang="pt-PT" sz="1600" dirty="0" err="1"/>
              <a:t>subject</a:t>
            </a:r>
            <a:r>
              <a:rPr lang="pt-PT" sz="1600" dirty="0"/>
              <a:t>” a AMD resume de forma clara a mensagem do e-mail</a:t>
            </a:r>
          </a:p>
          <a:p>
            <a:pPr algn="ctr"/>
            <a:endParaRPr lang="en-US" dirty="0"/>
          </a:p>
        </p:txBody>
      </p: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F21BF4E9-C9CE-B4FC-8F83-821E24C32815}"/>
              </a:ext>
            </a:extLst>
          </p:cNvPr>
          <p:cNvCxnSpPr>
            <a:stCxn id="13" idx="0"/>
          </p:cNvCxnSpPr>
          <p:nvPr/>
        </p:nvCxnSpPr>
        <p:spPr>
          <a:xfrm flipV="1">
            <a:off x="3323230" y="2293027"/>
            <a:ext cx="559558" cy="1726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2F0330-A0E4-EB86-C7F0-E24F093E5475}"/>
              </a:ext>
            </a:extLst>
          </p:cNvPr>
          <p:cNvSpPr/>
          <p:nvPr/>
        </p:nvSpPr>
        <p:spPr>
          <a:xfrm>
            <a:off x="5980045" y="4019266"/>
            <a:ext cx="4995081" cy="245659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Quando observamos a “</a:t>
            </a:r>
            <a:r>
              <a:rPr lang="pt-PT" sz="1600" dirty="0" err="1"/>
              <a:t>preview</a:t>
            </a:r>
            <a:r>
              <a:rPr lang="pt-PT" sz="1600" dirty="0"/>
              <a:t> </a:t>
            </a:r>
            <a:r>
              <a:rPr lang="pt-PT" sz="1600" dirty="0" err="1"/>
              <a:t>text</a:t>
            </a:r>
            <a:r>
              <a:rPr lang="pt-PT" sz="1600" dirty="0"/>
              <a:t>” podemos concluir que o link que lá se encontra, corresponde á “</a:t>
            </a:r>
            <a:r>
              <a:rPr lang="pt-PT" sz="1600" dirty="0" err="1"/>
              <a:t>alternative</a:t>
            </a:r>
            <a:r>
              <a:rPr lang="pt-PT" sz="1600" dirty="0"/>
              <a:t> </a:t>
            </a:r>
            <a:r>
              <a:rPr lang="pt-PT" sz="1600" dirty="0" err="1"/>
              <a:t>text</a:t>
            </a:r>
            <a:r>
              <a:rPr lang="pt-PT" sz="1600" dirty="0"/>
              <a:t>” que pertence á imagem do cabeçalho</a:t>
            </a:r>
            <a:endParaRPr lang="en-US" sz="1600" dirty="0"/>
          </a:p>
        </p:txBody>
      </p: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1A5A2B5A-4145-4504-920F-1030B75BCD45}"/>
              </a:ext>
            </a:extLst>
          </p:cNvPr>
          <p:cNvCxnSpPr/>
          <p:nvPr/>
        </p:nvCxnSpPr>
        <p:spPr>
          <a:xfrm flipH="1" flipV="1">
            <a:off x="7274257" y="2293027"/>
            <a:ext cx="1255594" cy="172623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3B5BE7-6DB1-1BAA-914B-1F46BC274D51}"/>
              </a:ext>
            </a:extLst>
          </p:cNvPr>
          <p:cNvSpPr txBox="1"/>
          <p:nvPr/>
        </p:nvSpPr>
        <p:spPr>
          <a:xfrm>
            <a:off x="4545237" y="2671832"/>
            <a:ext cx="2283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Linguagem usada não é do tipo que alerte os filtros “</a:t>
            </a:r>
            <a:r>
              <a:rPr lang="pt-PT" sz="1600" b="1" dirty="0" err="1">
                <a:solidFill>
                  <a:schemeClr val="bg1"/>
                </a:solidFill>
              </a:rPr>
              <a:t>anti-spam</a:t>
            </a:r>
            <a:r>
              <a:rPr lang="pt-PT" sz="1600" b="1" dirty="0">
                <a:solidFill>
                  <a:schemeClr val="bg1"/>
                </a:solidFill>
              </a:rPr>
              <a:t>”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164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m Saturação de cores, arte, Carmim, encarnado">
            <a:extLst>
              <a:ext uri="{FF2B5EF4-FFF2-40B4-BE49-F238E27FC236}">
                <a16:creationId xmlns:a16="http://schemas.microsoft.com/office/drawing/2014/main" id="{670F093E-B3D2-3900-6520-A7886B832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5273C23-9D03-3628-4960-216B2930EBEE}"/>
              </a:ext>
            </a:extLst>
          </p:cNvPr>
          <p:cNvSpPr txBox="1"/>
          <p:nvPr/>
        </p:nvSpPr>
        <p:spPr>
          <a:xfrm>
            <a:off x="1" y="43751"/>
            <a:ext cx="12190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Conteúdo</a:t>
            </a:r>
            <a:r>
              <a:rPr lang="pt-PT" dirty="0"/>
              <a:t> </a:t>
            </a:r>
            <a:endParaRPr lang="en-US" dirty="0"/>
          </a:p>
        </p:txBody>
      </p:sp>
      <p:pic>
        <p:nvPicPr>
          <p:cNvPr id="6" name="Imagem 5" descr="Uma imagem com texto, eletrónica, captura de ecrã, computador&#10;&#10;Descrição gerada automaticamente">
            <a:extLst>
              <a:ext uri="{FF2B5EF4-FFF2-40B4-BE49-F238E27FC236}">
                <a16:creationId xmlns:a16="http://schemas.microsoft.com/office/drawing/2014/main" id="{C2D02E57-F8A2-C444-931F-7CCBB2051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295" y="726413"/>
            <a:ext cx="2685172" cy="52901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m 10" descr="Uma imagem com texto, computador, captura de ecrã, Website">
            <a:extLst>
              <a:ext uri="{FF2B5EF4-FFF2-40B4-BE49-F238E27FC236}">
                <a16:creationId xmlns:a16="http://schemas.microsoft.com/office/drawing/2014/main" id="{C45EBF7B-FC31-4497-F755-DEC1F6C2E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222" y="726413"/>
            <a:ext cx="3137206" cy="52901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421ADD-838B-007E-B432-5E9E7564650C}"/>
              </a:ext>
            </a:extLst>
          </p:cNvPr>
          <p:cNvSpPr/>
          <p:nvPr/>
        </p:nvSpPr>
        <p:spPr>
          <a:xfrm>
            <a:off x="109182" y="670996"/>
            <a:ext cx="1965278" cy="541758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Estes “e-mails” resumem de forma muito clara, no texto, o que o subscritor poderá encontrar quando seguir o “CTA” até ao “website”</a:t>
            </a:r>
            <a:endParaRPr lang="en-US" sz="1600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8FF8E95-8276-4218-9C87-A33FABD0234C}"/>
              </a:ext>
            </a:extLst>
          </p:cNvPr>
          <p:cNvSpPr/>
          <p:nvPr/>
        </p:nvSpPr>
        <p:spPr>
          <a:xfrm>
            <a:off x="10129769" y="670996"/>
            <a:ext cx="1965278" cy="534560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Aqui as imagens complementam o  texto mas nunca são necessárias, para quem abre o “e-mail”, para perceber a mensagem que o texto quer transmitir</a:t>
            </a:r>
            <a:endParaRPr lang="en-US" sz="1600" dirty="0"/>
          </a:p>
        </p:txBody>
      </p: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302FEB12-6238-62B1-ECD3-6D98B1CE9691}"/>
              </a:ext>
            </a:extLst>
          </p:cNvPr>
          <p:cNvCxnSpPr>
            <a:stCxn id="12" idx="3"/>
          </p:cNvCxnSpPr>
          <p:nvPr/>
        </p:nvCxnSpPr>
        <p:spPr>
          <a:xfrm flipV="1">
            <a:off x="2074460" y="3046513"/>
            <a:ext cx="579530" cy="333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FDCBFFA1-BAF2-F9A3-578A-4D7A0640DD7E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8684570" y="2386361"/>
            <a:ext cx="1445199" cy="957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8CC8804-8D4B-5593-2F93-E037A5663002}"/>
              </a:ext>
            </a:extLst>
          </p:cNvPr>
          <p:cNvSpPr/>
          <p:nvPr/>
        </p:nvSpPr>
        <p:spPr>
          <a:xfrm>
            <a:off x="5116180" y="670996"/>
            <a:ext cx="1630613" cy="415971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Nem todos os e-mails enviados tem a mesma finalidade. Alguns sugerem o “download”  de um “</a:t>
            </a:r>
            <a:r>
              <a:rPr lang="pt-PT" sz="1600" dirty="0" err="1"/>
              <a:t>pdf</a:t>
            </a:r>
            <a:r>
              <a:rPr lang="pt-PT" sz="1600" dirty="0"/>
              <a:t>”, outros, a inscrição num um “</a:t>
            </a:r>
            <a:r>
              <a:rPr lang="pt-PT" sz="1600" dirty="0" err="1"/>
              <a:t>webinar</a:t>
            </a:r>
            <a:r>
              <a:rPr lang="pt-PT" sz="1600" dirty="0"/>
              <a:t>”</a:t>
            </a:r>
            <a:endParaRPr lang="en-US" sz="1600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A5B8771-4391-E6F9-F04D-E6EFADC09E51}"/>
              </a:ext>
            </a:extLst>
          </p:cNvPr>
          <p:cNvSpPr/>
          <p:nvPr/>
        </p:nvSpPr>
        <p:spPr>
          <a:xfrm>
            <a:off x="5095366" y="4951141"/>
            <a:ext cx="1697957" cy="186310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“CTA” branco encaminha-nos para a secção de ajuda da marca</a:t>
            </a:r>
            <a:endParaRPr lang="en-US" sz="1600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DB518B1-D28E-2399-2D90-DD6F6FA612B8}"/>
              </a:ext>
            </a:extLst>
          </p:cNvPr>
          <p:cNvSpPr/>
          <p:nvPr/>
        </p:nvSpPr>
        <p:spPr>
          <a:xfrm>
            <a:off x="2297151" y="6088584"/>
            <a:ext cx="2685172" cy="7256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“CTA” preto dirige-nos para um “website” secundário da marca</a:t>
            </a:r>
            <a:endParaRPr lang="en-US" sz="1600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BC7C934-680A-F51F-2A17-07B61F9D2339}"/>
              </a:ext>
            </a:extLst>
          </p:cNvPr>
          <p:cNvSpPr/>
          <p:nvPr/>
        </p:nvSpPr>
        <p:spPr>
          <a:xfrm>
            <a:off x="6906366" y="6088584"/>
            <a:ext cx="3137206" cy="7256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/>
              <a:t>“CTA” leva-nos diretamente para o “website” principal da AMD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055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 descr="Uma imagem com Saturação de cores, arte, Carmim, encarnado">
            <a:extLst>
              <a:ext uri="{FF2B5EF4-FFF2-40B4-BE49-F238E27FC236}">
                <a16:creationId xmlns:a16="http://schemas.microsoft.com/office/drawing/2014/main" id="{15B9CF12-3272-16F0-1237-180635B5A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17"/>
          <a:stretch/>
        </p:blipFill>
        <p:spPr>
          <a:xfrm>
            <a:off x="20" y="-12959"/>
            <a:ext cx="12191980" cy="685671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AF3738B-C4FA-836E-BEC8-6EA31EADEEBC}"/>
              </a:ext>
            </a:extLst>
          </p:cNvPr>
          <p:cNvSpPr txBox="1"/>
          <p:nvPr/>
        </p:nvSpPr>
        <p:spPr>
          <a:xfrm>
            <a:off x="0" y="4375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solidFill>
                  <a:schemeClr val="bg1"/>
                </a:solidFill>
              </a:rPr>
              <a:t>Sugestões de Melhoria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E29307-1DE2-CAD8-C37F-EB7FE24DBA40}"/>
              </a:ext>
            </a:extLst>
          </p:cNvPr>
          <p:cNvSpPr txBox="1"/>
          <p:nvPr/>
        </p:nvSpPr>
        <p:spPr>
          <a:xfrm>
            <a:off x="4048442" y="1420475"/>
            <a:ext cx="4095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1" dirty="0">
                <a:solidFill>
                  <a:schemeClr val="bg1"/>
                </a:solidFill>
              </a:rPr>
              <a:t>Remetente; Personalização; “</a:t>
            </a:r>
            <a:r>
              <a:rPr lang="pt-PT" sz="1600" b="1" dirty="0" err="1">
                <a:solidFill>
                  <a:schemeClr val="bg1"/>
                </a:solidFill>
              </a:rPr>
              <a:t>Preview</a:t>
            </a:r>
            <a:r>
              <a:rPr lang="pt-PT" sz="1600" b="1" dirty="0">
                <a:solidFill>
                  <a:schemeClr val="bg1"/>
                </a:solidFill>
              </a:rPr>
              <a:t> </a:t>
            </a:r>
            <a:r>
              <a:rPr lang="pt-PT" sz="1600" b="1" dirty="0" err="1">
                <a:solidFill>
                  <a:schemeClr val="bg1"/>
                </a:solidFill>
              </a:rPr>
              <a:t>Text</a:t>
            </a:r>
            <a:r>
              <a:rPr lang="pt-PT" sz="1600" b="1" dirty="0">
                <a:solidFill>
                  <a:schemeClr val="bg1"/>
                </a:solidFill>
              </a:rPr>
              <a:t>”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D4018A32-C57D-0592-A2F9-438A841E4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3" y="2499327"/>
            <a:ext cx="12058650" cy="228600"/>
          </a:xfrm>
          <a:prstGeom prst="rect">
            <a:avLst/>
          </a:prstGeom>
        </p:spPr>
      </p:pic>
      <p:pic>
        <p:nvPicPr>
          <p:cNvPr id="18" name="Imagem 17" descr="Uma imagem com texto, eletrónica, captura de ecrã, computador&#10;&#10;Descrição gerada automaticamente">
            <a:extLst>
              <a:ext uri="{FF2B5EF4-FFF2-40B4-BE49-F238E27FC236}">
                <a16:creationId xmlns:a16="http://schemas.microsoft.com/office/drawing/2014/main" id="{6A9FF3A5-B38E-2BB9-4BDA-1DF841AF7F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11" y="2824907"/>
            <a:ext cx="2024894" cy="3989342"/>
          </a:xfrm>
          <a:prstGeom prst="rect">
            <a:avLst/>
          </a:prstGeom>
        </p:spPr>
      </p:pic>
      <p:pic>
        <p:nvPicPr>
          <p:cNvPr id="20" name="Imagem 19" descr="Uma imagem com texto, captura de ecrã&#10;&#10;Descrição gerada automaticamente">
            <a:extLst>
              <a:ext uri="{FF2B5EF4-FFF2-40B4-BE49-F238E27FC236}">
                <a16:creationId xmlns:a16="http://schemas.microsoft.com/office/drawing/2014/main" id="{4693E3F3-EB33-38C4-FD81-2043F6529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337" y="2824907"/>
            <a:ext cx="1856987" cy="4018852"/>
          </a:xfrm>
          <a:prstGeom prst="rect">
            <a:avLst/>
          </a:prstGeom>
        </p:spPr>
      </p:pic>
      <p:pic>
        <p:nvPicPr>
          <p:cNvPr id="22" name="Imagem 21" descr="Uma imagem com texto, computador, captura de ecrã, Website&#10;&#10;Descrição gerada automaticamente">
            <a:extLst>
              <a:ext uri="{FF2B5EF4-FFF2-40B4-BE49-F238E27FC236}">
                <a16:creationId xmlns:a16="http://schemas.microsoft.com/office/drawing/2014/main" id="{BEB574D7-05C1-2A33-A1CE-1506697B00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433" y="2833945"/>
            <a:ext cx="2391718" cy="4033093"/>
          </a:xfrm>
          <a:prstGeom prst="rect">
            <a:avLst/>
          </a:prstGeom>
        </p:spPr>
      </p:pic>
      <p:pic>
        <p:nvPicPr>
          <p:cNvPr id="24" name="Imagem 23" descr="Uma imagem com texto, computador, captura de ecrã, Website&#10;&#10;Descrição gerada automaticamente">
            <a:extLst>
              <a:ext uri="{FF2B5EF4-FFF2-40B4-BE49-F238E27FC236}">
                <a16:creationId xmlns:a16="http://schemas.microsoft.com/office/drawing/2014/main" id="{F5BF3E02-3FBE-49EC-CDBA-13B2A15D93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260" y="2842983"/>
            <a:ext cx="1942406" cy="4000776"/>
          </a:xfrm>
          <a:prstGeom prst="rect">
            <a:avLst/>
          </a:prstGeom>
        </p:spPr>
      </p:pic>
      <p:pic>
        <p:nvPicPr>
          <p:cNvPr id="26" name="Imagem 25" descr="Uma imagem com texto, eletrónica, computador, captura de ecrã&#10;&#10;Descrição gerada automaticamente">
            <a:extLst>
              <a:ext uri="{FF2B5EF4-FFF2-40B4-BE49-F238E27FC236}">
                <a16:creationId xmlns:a16="http://schemas.microsoft.com/office/drawing/2014/main" id="{26F9763F-C2B5-817E-EFCF-EA170C2070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775" y="2842983"/>
            <a:ext cx="2339567" cy="402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573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7587A923196F49BCEBB1FEB73FD872" ma:contentTypeVersion="5" ma:contentTypeDescription="Create a new document." ma:contentTypeScope="" ma:versionID="0023bde3171641a70541b773fc385c2c">
  <xsd:schema xmlns:xsd="http://www.w3.org/2001/XMLSchema" xmlns:xs="http://www.w3.org/2001/XMLSchema" xmlns:p="http://schemas.microsoft.com/office/2006/metadata/properties" xmlns:ns3="66bbec3f-9724-4a09-9a65-20c53b9e6403" targetNamespace="http://schemas.microsoft.com/office/2006/metadata/properties" ma:root="true" ma:fieldsID="64d8c70b87721d313cc26d60f9f71d98" ns3:_="">
    <xsd:import namespace="66bbec3f-9724-4a09-9a65-20c53b9e640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ec3f-9724-4a09-9a65-20c53b9e640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824EF7C-7013-4F6B-916A-2B7FE088A5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bec3f-9724-4a09-9a65-20c53b9e64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85A9A-64DA-4DB7-8B09-FEC7A43168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997476-8A9F-4CA7-B2B4-7F76A0C907A6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66bbec3f-9724-4a09-9a65-20c53b9e640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631</Words>
  <Application>Microsoft Office PowerPoint</Application>
  <PresentationFormat>Ecrã Panorâmico</PresentationFormat>
  <Paragraphs>74</Paragraphs>
  <Slides>14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do Office</vt:lpstr>
      <vt:lpstr>Análise Crítica (AMD) </vt:lpstr>
      <vt:lpstr>Apresentação do PowerPoint</vt:lpstr>
      <vt:lpstr>Apresentação do PowerPoint</vt:lpstr>
      <vt:lpstr>Apresentação do PowerPoint</vt:lpstr>
      <vt:lpstr>Frequência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Coias</dc:creator>
  <cp:lastModifiedBy>Pedro Coias</cp:lastModifiedBy>
  <cp:revision>3</cp:revision>
  <dcterms:created xsi:type="dcterms:W3CDTF">2024-11-30T12:29:51Z</dcterms:created>
  <dcterms:modified xsi:type="dcterms:W3CDTF">2024-12-03T10:49:49Z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0x010100437587A923196F49BCEBB1FEB73FD872</vt:lpwstr>
  </property>
</Properties>
</file>